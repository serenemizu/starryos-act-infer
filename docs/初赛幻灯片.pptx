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731520"/>
            <a:ext cx="4572000" cy="2743200"/>
          </a:xfrm>
          <a:prstGeom prst="rect">
            <a:avLst/>
          </a:prstGeom>
          <a:solidFill>
            <a:srgbClr val="0891B2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2286000"/>
          </a:xfrm>
          <a:prstGeom prst="rect">
            <a:avLst/>
          </a:prstGeom>
          <a:solidFill>
            <a:srgbClr val="22D3EE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8640" y="548640"/>
            <a:ext cx="54864" cy="3474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5" name="Text 3"/>
          <p:cNvSpPr/>
          <p:nvPr/>
        </p:nvSpPr>
        <p:spPr>
          <a:xfrm>
            <a:off x="914400" y="73152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 模型嵌入式推理部署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Pro57 · 初赛进度汇报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SG2002 TPU · RK3588 NPU · QEMU RISC-V CPU 三平台部署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杨宏运  乔正阳  邵志航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91B2">
              <a:alpha val="20000"/>
            </a:srgbClr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汇报提纲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9144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731520"/>
          </a:xfrm>
          <a:prstGeom prst="rect">
            <a:avLst/>
          </a:prstGeom>
          <a:solidFill>
            <a:srgbClr val="F1F5F9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18872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赛题背景与目标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731520"/>
          </a:xfrm>
          <a:prstGeom prst="rect">
            <a:avLst/>
          </a:prstGeom>
          <a:solidFill>
            <a:srgbClr val="F1F5F9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18872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11887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整体技术路线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3840480" cy="731520"/>
          </a:xfrm>
          <a:prstGeom prst="rect">
            <a:avLst/>
          </a:prstGeom>
          <a:solidFill>
            <a:srgbClr val="F1F5F9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214884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任务三：QEMU RISC-V CPU 推理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148840"/>
            <a:ext cx="3840480" cy="731520"/>
          </a:xfrm>
          <a:prstGeom prst="rect">
            <a:avLst/>
          </a:prstGeom>
          <a:solidFill>
            <a:srgbClr val="F1F5F9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214884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21488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任务一：SG2002 TPU 推理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3840480" cy="731520"/>
          </a:xfrm>
          <a:prstGeom prst="rect">
            <a:avLst/>
          </a:prstGeom>
          <a:solidFill>
            <a:srgbClr val="F1F5F9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10896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任务二：RK3588 NPU 推理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3840480" cy="731520"/>
          </a:xfrm>
          <a:prstGeom prst="rect">
            <a:avLst/>
          </a:prstGeom>
          <a:solidFill>
            <a:srgbClr val="F1F5F9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56048" y="310896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31089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量化策略对比与混合精度探索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840480" cy="731520"/>
          </a:xfrm>
          <a:prstGeom prst="rect">
            <a:avLst/>
          </a:prstGeom>
          <a:solidFill>
            <a:srgbClr val="F1F5F9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406908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406908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统一工程架构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4069080"/>
            <a:ext cx="3840480" cy="731520"/>
          </a:xfrm>
          <a:prstGeom prst="rect">
            <a:avLst/>
          </a:prstGeom>
          <a:solidFill>
            <a:srgbClr val="F1F5F9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406908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406908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下一步计划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赛题背景与目标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005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赛题背景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47472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推动国产操作系统 StarryOS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与前沿具身智能技术 ACT 模型深度融合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在国产化嵌入式平台上部署与优化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模仿学习模型，验证系统对复杂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任务的支持能力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5720" cy="10515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1" name="Text 9"/>
          <p:cNvSpPr/>
          <p:nvPr/>
        </p:nvSpPr>
        <p:spPr>
          <a:xfrm>
            <a:off x="4983480" y="9875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26187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SG2002 · 256MB · TPU BF16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0" y="98755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已完成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148840"/>
            <a:ext cx="45720" cy="105156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6" name="Text 14"/>
          <p:cNvSpPr/>
          <p:nvPr/>
        </p:nvSpPr>
        <p:spPr>
          <a:xfrm>
            <a:off x="4983480" y="22219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49631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RK3588 · 4GB · NPU FP16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22219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已完成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383280"/>
            <a:ext cx="3931920" cy="105156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383280"/>
            <a:ext cx="45720" cy="10515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983480" y="34564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73075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QEMU · RISC-V · CPU ONNX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345643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已完成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整体技术路线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554480" cy="731520"/>
          </a:xfrm>
          <a:prstGeom prst="rect">
            <a:avLst/>
          </a:prstGeom>
          <a:solidFill>
            <a:srgbClr val="0F1B2D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91440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914400"/>
            <a:ext cx="1554480" cy="731520"/>
          </a:xfrm>
          <a:prstGeom prst="rect">
            <a:avLst/>
          </a:prstGeom>
          <a:solidFill>
            <a:srgbClr val="0F1B2D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9144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ONNX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91440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914400"/>
            <a:ext cx="1554480" cy="731520"/>
          </a:xfrm>
          <a:prstGeom prst="rect">
            <a:avLst/>
          </a:prstGeom>
          <a:solidFill>
            <a:srgbClr val="0891B2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9144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BF16 量化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cvimodel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91440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914400"/>
            <a:ext cx="1554480" cy="731520"/>
          </a:xfrm>
          <a:prstGeom prst="rect">
            <a:avLst/>
          </a:prstGeom>
          <a:solidFill>
            <a:srgbClr val="22D3EE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9240" y="9144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FP16 转换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.rknn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03720" y="91440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914400"/>
            <a:ext cx="1554480" cy="731520"/>
          </a:xfrm>
          <a:prstGeom prst="rect">
            <a:avLst/>
          </a:prstGeom>
          <a:solidFill>
            <a:srgbClr val="10B981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9144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推理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ONNX Runtime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11680"/>
            <a:ext cx="2743200" cy="256032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011680"/>
            <a:ext cx="27432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2" name="Text 20"/>
          <p:cNvSpPr/>
          <p:nvPr/>
        </p:nvSpPr>
        <p:spPr>
          <a:xfrm>
            <a:off x="411480" y="2194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SG2002 TPU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25603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BF16 → cvimodel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交叉编译 act-infer-tpu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 卡镜像打包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2900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204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749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94.7% · 453ms/帧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2011680"/>
            <a:ext cx="2743200" cy="256032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011680"/>
            <a:ext cx="2743200" cy="4572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29" name="Text 27"/>
          <p:cNvSpPr/>
          <p:nvPr/>
        </p:nvSpPr>
        <p:spPr>
          <a:xfrm>
            <a:off x="3383280" y="2194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RK3588 NPU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83280" y="25603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FP16 → .rknn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交叉编译 act-infer-rknn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 卡镜像打包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42900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5204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3749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99.2% · 909ms/帧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011680"/>
            <a:ext cx="2743200" cy="256032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011680"/>
            <a:ext cx="27432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6" name="Text 34"/>
          <p:cNvSpPr/>
          <p:nvPr/>
        </p:nvSpPr>
        <p:spPr>
          <a:xfrm>
            <a:off x="6355080" y="2194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QEMU RISC-V CPU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25603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ONNX Runtime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交叉编译 act-infer-ort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Alpine rootfs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342900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5204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3749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· 18.4s/帧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任务三：QEMU RISC-V CPU 推理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ONNX Runtime · RISC-V musl · 350MB RAM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15544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87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推理规格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语言/目标:  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Rust · riscv64gc-unknown-linux-musl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推理后端:    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ONNX Runtime (Alpine apk)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模型:        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FP32 ONNX · 194 MB · 677 节点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系统:        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QEMU RISC-V · 350MB · 单核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777365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87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时间消耗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937760" y="1261872"/>
          <a:ext cx="3566160" cy="109728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阶段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耗时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模型加载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23.97 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图像预处理 (2帧)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183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推理合计 (2帧)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36.87 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推理/帧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18.44 s/帧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2788920"/>
            <a:ext cx="3931920" cy="219456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28620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内存消耗（MemFree 差值法）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640080" y="3200400"/>
          <a:ext cx="3566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阶段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已用内存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模型加载后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269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2帧推理后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277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峰值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277 / 350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40080" y="4361815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运行时 MemAvailable 仍有 85MB 余量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54880" y="2788920"/>
            <a:ext cx="3931920" cy="2195195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37760" y="2862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推理正确性</a:t>
            </a:r>
            <a:endParaRPr lang="en-US" sz="13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/>
        </p:nvGraphicFramePr>
        <p:xfrm>
          <a:off x="4937760" y="3200400"/>
          <a:ext cx="3566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731520"/>
                <a:gridCol w="8229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帧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转向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参考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结果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frame_000000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LEFT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LEFT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frame_000227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RIGHT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RIGHT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4937760" y="39776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转向匹配率 2/2（100%）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 left_vel 偏差: 0.000013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 right_vel 偏差: 0.000027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任务一：SG2002 TPU 推理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Sophgo CV181x · BF16 · 256MB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10972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87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模型量化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98448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FP32 ONNX → TPU-MLIR BF16 → cvimodel (~96 MB, 2×)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cv181x · 输入 FP32 · 内部 BF16 · 输出 FP32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BF16 保留动态范围，FFN 层对 INT8 极度敏感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0972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87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推理程序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act-infer-tpu（Rust）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静态链接 CVI 库 · bindgen FFI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CVI_NN_* · BF16→FP32 后处理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3931920" cy="24688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134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性能数据（666帧全量）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40080" y="2651760"/>
          <a:ext cx="3566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指标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总耗时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301.40 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平均帧耗时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452.6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最小帧耗时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389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最大帧耗时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719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峰值内存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114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37760" y="23134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推理正确性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265176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转向匹配率:   </a:t>
            </a:r>
            <a:r>
              <a:rPr lang="en-US" sz="10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631 / 666 (94.7%)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不一致帧:     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 / 666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 left_vel: 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0.001925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 right_vel: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0.001498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34747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35帧不一致均为轮速差 &lt; 0.01 的边界帧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BF16 微小偏差导致方向翻转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solidFill>
            <a:srgbClr val="F59E0B">
              <a:alpha val="15000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502920" y="484632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关键挑战: tgoskits 静态平台崩溃修复 — plat_dyn=true + TPU/ION cfg gate 放开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任务二：RK3588 NPU 推理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OrangePi 5 Plus · FP16 · 4GB RAM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10972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87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模型转换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98448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FP32 ONNX → convert_fp16 → rknn_compile → .rknn (~97 MB)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权重 FP16 · 输入/输出 FP32 · NPU 硬件 FP16 执行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do_quantization=False (INT8 精度崩至 68%)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0972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87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推理程序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act-infer-rknn（Rust）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bindgen FFI · rknn_init/run/get_outputs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动态链接 librknnrt.so · aarch64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3931920" cy="24688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134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性能数据（666帧全量）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40080" y="2651760"/>
          <a:ext cx="3566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指标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总耗时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605.66 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平均帧耗时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909.4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最小/最大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896 / 996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峰值内存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193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37760" y="23134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推理正确性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265176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转向匹配率:   </a:t>
            </a:r>
            <a:r>
              <a:rPr lang="en-US" sz="10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661 / 666 (99.2%)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不一致帧:     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666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 left_vel: 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0.001321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 right_vel: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0.001107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34747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5帧不一致均为轮速差极小的边界帧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FP16 精度损失极小，99.2% 匹配率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solidFill>
            <a:srgbClr val="F59E0B">
              <a:alpha val="15000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502920" y="484632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关键挑战: 双 Python venv · DTB 兼容性 · SD卡 IO 瓶颈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量化策略对比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三种策略 · 三个平台 · 精度-体积-速度权衡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6926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量化方案对比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40080" y="1261872"/>
          <a:ext cx="6772275" cy="1481455"/>
        </p:xfrm>
        <a:graphic>
          <a:graphicData uri="http://schemas.openxmlformats.org/drawingml/2006/table">
            <a:tbl>
              <a:tblPr/>
              <a:tblGrid>
                <a:gridCol w="1804670"/>
                <a:gridCol w="1185545"/>
                <a:gridCol w="1211580"/>
                <a:gridCol w="772160"/>
                <a:gridCol w="761565"/>
                <a:gridCol w="1036955"/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策略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平台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精度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大小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压缩比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匹配率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BF16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SG2002 TPU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BF16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96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FP16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RK3588 NPU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FP16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97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99.2%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conv+qkv INT8+FP16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x86 (VNNI)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INT8+FP16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79.5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2.5×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98.5%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FP32 (参考)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QEMU CPU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FP32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194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2926080"/>
            <a:ext cx="8229600" cy="196596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29809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逐类 INT8 敏感度分析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640080" y="3226435"/>
          <a:ext cx="7863840" cy="1298448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1371600"/>
                <a:gridCol w="1645920"/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算子类别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数量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匹配率下降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结论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QKV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-0.90%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 INT8 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-1.95%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 INT8 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Attention 输出投影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-2.25%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保守 FP16 ⚠️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FFN1 (512→3200)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-5.71%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必须 FP16 ❌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FFN2 (3200→512)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-15.47%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必须 FP16 ❌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统一工程架构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三套推理程序 · 共享流水线 · 统一 Makefile 构建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011680" cy="228600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201168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9" name="Text 7"/>
          <p:cNvSpPr/>
          <p:nvPr/>
        </p:nvSpPr>
        <p:spPr>
          <a:xfrm>
            <a:off x="411480" y="10515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统一推理流水线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图像: JPEG→RGB→Resize→Normalize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状态: QUANTILES→[-1,1]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动作: FP32→反归一化→转向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914400"/>
            <a:ext cx="2011680" cy="228600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14400"/>
            <a:ext cx="2011680" cy="4572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3" name="Text 11"/>
          <p:cNvSpPr/>
          <p:nvPr/>
        </p:nvSpPr>
        <p:spPr>
          <a:xfrm>
            <a:off x="2606040" y="10515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 CLI 接口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3716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--model / --dir / --stats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--reference (验证)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--track-mem (内存)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2011680" cy="228600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14400"/>
            <a:ext cx="201168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4800600" y="10515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统一构建系统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3716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Makefile 编排全流程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容器隔离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一键命令 make test-qemu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914400"/>
            <a:ext cx="2011680" cy="228600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914400"/>
            <a:ext cx="201168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6995160" y="10515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统一内存追踪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13716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MemFree 差值法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后台 10ms 轮询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不依赖 VmSize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8595360" cy="118872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5021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验证系统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81304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--reference 指定参考 JSON → 每帧自动对比 → OK/DIFF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SUMMARY: 转向匹配率 · 不一致帧数 · 速度偏差最大值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35021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三平台共享同一套验证逻辑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下一步计划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29184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8" name="Text 6"/>
          <p:cNvSpPr/>
          <p:nvPr/>
        </p:nvSpPr>
        <p:spPr>
          <a:xfrm>
            <a:off x="411480" y="11430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板侧混合精度推理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部署混合量化模型到 SG2002 TPU / RK3588 NPU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11680"/>
            <a:ext cx="246888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TPU-MLIR 混合量化编译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ONNX 侧量化 → RKNN 直转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更小模型 + 更快推理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43200" cy="329184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05840"/>
            <a:ext cx="2743200" cy="4572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4" name="Text 12"/>
          <p:cNvSpPr/>
          <p:nvPr/>
        </p:nvSpPr>
        <p:spPr>
          <a:xfrm>
            <a:off x="3383280" y="11430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性能优化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463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速度提升 + 内存优化 + IO 流水线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87452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011680"/>
            <a:ext cx="246888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算子融合、内存复用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异步预加载、双缓冲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QEMU 自定义图优化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743200" cy="3291840"/>
          </a:xfrm>
          <a:prstGeom prst="rect">
            <a:avLst/>
          </a:prstGeom>
          <a:solidFill>
            <a:srgbClr val="FFFFFF"/>
          </a:solidFill>
          <a:effectLst>
            <a:outerShdw blurRad="381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05840"/>
            <a:ext cx="27432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355080" y="11430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精度提升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1463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SG2002 BF16 校准 + 端到端验证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55080" y="187452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011680"/>
            <a:ext cx="246888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分析 35 帧边界误判原因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改进校准数据集覆盖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TPU/NPU 混合精度复现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rect">
            <a:avLst/>
          </a:prstGeom>
          <a:solidFill>
            <a:srgbClr val="0891B2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rect">
            <a:avLst/>
          </a:prstGeom>
          <a:solidFill>
            <a:srgbClr val="22D3EE">
              <a:alpha val="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Pro57 · ACT 模型嵌入式推理部署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SG2002 TPU · RK3588 NPU · QEMU RISC-V CPU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杨宏运  乔正阳  邵志航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91B2">
              <a:alpha val="20000"/>
            </a:srgbClr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3176</Words>
  <Application>WPS 演示</Application>
  <PresentationFormat>On-screen Show (16:9)</PresentationFormat>
  <Paragraphs>516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Pro57 ACT 模型嵌入式推理部署 · 初赛进度汇报</dc:title>
  <dc:creator>Pro57 Team</dc:creator>
  <dc:subject>PptxGenJS Presentation</dc:subject>
  <cp:lastModifiedBy>Illusion.</cp:lastModifiedBy>
  <cp:revision>4</cp:revision>
  <dcterms:created xsi:type="dcterms:W3CDTF">2026-06-29T05:04:00Z</dcterms:created>
  <dcterms:modified xsi:type="dcterms:W3CDTF">2026-06-29T05:07:33Z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3D4CEBFC5B3C468392EC148708FC45BA_12</vt:lpwstr>
  </property>
  <property fmtid="{D5CDD505-2E9C-101B-9397-08002B2CF9AE}" pid="3" name="KSOProductBuildVer">
    <vt:lpwstr>2052-12.1.0.26895</vt:lpwstr>
  </property>
</Properties>
</file>